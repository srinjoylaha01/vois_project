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rinjoylaha01/VOIS_PROJECT.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voisfortech.com/certificate-verification/VFLMS26_160943/301"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88605" y="3521162"/>
            <a:ext cx="7967565" cy="369332"/>
          </a:xfrm>
        </p:spPr>
        <p:txBody>
          <a:bodyPr vert="horz" lIns="91440" tIns="45720" rIns="91440" bIns="45720" rtlCol="0" anchor="t">
            <a:normAutofit lnSpcReduction="10000"/>
          </a:bodyPr>
          <a:lstStyle/>
          <a:p>
            <a:pPr algn="r"/>
            <a:r>
              <a:rPr lang="en-US" b="0" dirty="0">
                <a:solidFill>
                  <a:schemeClr val="tx1"/>
                </a:solidFill>
              </a:rPr>
              <a:t>College Name-</a:t>
            </a:r>
            <a:r>
              <a:rPr lang="en-US" dirty="0"/>
              <a:t>College of Engineering &amp; Management, Kolaghat</a:t>
            </a:r>
            <a:endParaRPr lang="en-US" b="0" dirty="0"/>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462387" cy="743448"/>
          </a:xfrm>
        </p:spPr>
        <p:txBody>
          <a:bodyPr>
            <a:normAutofit fontScale="90000"/>
          </a:bodyPr>
          <a:lstStyle/>
          <a:p>
            <a:r>
              <a:rPr lang="en-GB" sz="3200" dirty="0"/>
              <a:t>Project Title - </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94727" y="4330797"/>
            <a:ext cx="5713983" cy="923330"/>
          </a:xfrm>
          <a:prstGeom prst="rect">
            <a:avLst/>
          </a:prstGeom>
          <a:noFill/>
        </p:spPr>
        <p:txBody>
          <a:bodyPr wrap="square" rtlCol="0">
            <a:spAutoFit/>
          </a:bodyPr>
          <a:lstStyle/>
          <a:p>
            <a:r>
              <a:rPr lang="en-US" b="1" dirty="0"/>
              <a:t>AICTE STU ID : STU688a6a797af421753901689</a:t>
            </a:r>
          </a:p>
          <a:p>
            <a:r>
              <a:rPr lang="en-US" dirty="0"/>
              <a:t>Student Name: </a:t>
            </a:r>
            <a:r>
              <a:rPr lang="en-US" dirty="0" err="1"/>
              <a:t>Srinjoy</a:t>
            </a:r>
            <a:r>
              <a:rPr lang="en-US" dirty="0"/>
              <a:t> Laha </a:t>
            </a:r>
            <a:endParaRPr lang="en-IN" dirty="0"/>
          </a:p>
          <a:p>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93040"/>
            <a:ext cx="6276109" cy="830997"/>
          </a:xfrm>
        </p:spPr>
        <p:txBody>
          <a:bodyPr>
            <a:normAutofit fontScale="90000"/>
          </a:bodyPr>
          <a:lstStyle/>
          <a:p>
            <a:r>
              <a:rPr lang="en-GB" dirty="0"/>
              <a:t>Project Description</a:t>
            </a:r>
            <a:br>
              <a:rPr lang="en-GB" dirty="0"/>
            </a:br>
            <a:br>
              <a:rPr lang="en-GB" dirty="0"/>
            </a:br>
            <a:r>
              <a:rPr lang="en-US" sz="2700" b="0" dirty="0"/>
              <a:t>Analyzed 4,000 agricultural records to uncover seasonal patterns in crop yield, farm profitability, irrigation efficiency, rainfall, and resource usage. Using Python, Pandas, NumPy, Matplotlib, and Seaborn, the project performed data cleaning, statistical analysis, correlation analysis, and multi-level visualization to compare crops and seasons. The analysis found Kharif to be the strongest-performing season, identified Zaid as comparatively high-risk, and highlighted drip irrigation as a strong strategy for water-stressed conditions.</a:t>
            </a:r>
            <a:endParaRPr lang="en-IN" sz="27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186781"/>
            <a:ext cx="8599923" cy="3990023"/>
          </a:xfrm>
        </p:spPr>
        <p:txBody>
          <a:bodyPr>
            <a:normAutofit fontScale="55000" lnSpcReduction="20000"/>
          </a:bodyPr>
          <a:lstStyle/>
          <a:p>
            <a:pPr lvl="0"/>
            <a:r>
              <a:rPr lang="en-US" sz="3600" b="1" dirty="0"/>
              <a:t>Farmers / Farm Owners</a:t>
            </a:r>
            <a:r>
              <a:rPr lang="en-US" sz="3600" dirty="0"/>
              <a:t> – use insights on crop performance, seasonality, irrigation, and profitability to plan farming decisions. </a:t>
            </a:r>
          </a:p>
          <a:p>
            <a:pPr lvl="0"/>
            <a:r>
              <a:rPr lang="en-US" sz="3600" b="1" dirty="0"/>
              <a:t>Agricultural Consultants</a:t>
            </a:r>
            <a:r>
              <a:rPr lang="en-US" sz="3600" dirty="0"/>
              <a:t> – use the analysis to recommend suitable crops, irrigation methods, and resource allocation. </a:t>
            </a:r>
          </a:p>
          <a:p>
            <a:pPr lvl="0"/>
            <a:r>
              <a:rPr lang="en-US" sz="3600" b="1" dirty="0"/>
              <a:t>Agribusiness Managers</a:t>
            </a:r>
            <a:r>
              <a:rPr lang="en-US" sz="3600" dirty="0"/>
              <a:t> – use profitability and yield trends for production and investment planning. </a:t>
            </a:r>
          </a:p>
          <a:p>
            <a:pPr lvl="0"/>
            <a:r>
              <a:rPr lang="en-US" sz="3600" b="1" dirty="0"/>
              <a:t>Government / Agricultural Departments</a:t>
            </a:r>
            <a:r>
              <a:rPr lang="en-US" sz="3600" dirty="0"/>
              <a:t> – use aggregated insights for agricultural planning, resource allocation, and policy decisions. </a:t>
            </a:r>
          </a:p>
          <a:p>
            <a:pPr lvl="0"/>
            <a:r>
              <a:rPr lang="en-US" sz="3600" b="1" dirty="0"/>
              <a:t>Agricultural Researchers / Analysts</a:t>
            </a:r>
            <a:r>
              <a:rPr lang="en-US" sz="3600" dirty="0"/>
              <a:t> – use the dataset and analysis to study relationships between environmental factors, farming practices, yield, and profit.</a:t>
            </a:r>
          </a:p>
          <a:p>
            <a:pPr algn="just">
              <a:lnSpc>
                <a:spcPct val="10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457200" lvl="1" indent="0">
              <a:lnSpc>
                <a:spcPct val="100000"/>
              </a:lnSpc>
              <a:buNone/>
            </a:pPr>
            <a:endParaRPr lang="en-US" dirty="0"/>
          </a:p>
          <a:p>
            <a:pPr lvl="1">
              <a:lnSpc>
                <a:spcPct val="100000"/>
              </a:lnSpc>
            </a:pPr>
            <a:r>
              <a:rPr lang="en-US" dirty="0"/>
              <a:t>Standalone analytical workflow using a CSV dataset processed in Python/Jupyter Notebook. No client-server, network, or distributed topology was used.</a:t>
            </a:r>
          </a:p>
          <a:p>
            <a:pPr lvl="1">
              <a:lnSpc>
                <a:spcPct val="100000"/>
              </a:lnSpc>
            </a:pPr>
            <a:r>
              <a:rPr lang="en-US" dirty="0"/>
              <a:t>CSV Dataset → Python/Pandas → Data Cleaning &amp; Processing → Statistical Analysis → Data Visualization → Insights &amp; Recommendations</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446099C-166F-DA12-E38E-400D7C109ABA}"/>
              </a:ext>
            </a:extLst>
          </p:cNvPr>
          <p:cNvPicPr>
            <a:picLocks noChangeAspect="1"/>
          </p:cNvPicPr>
          <p:nvPr/>
        </p:nvPicPr>
        <p:blipFill>
          <a:blip r:embed="rId3"/>
          <a:stretch>
            <a:fillRect/>
          </a:stretch>
        </p:blipFill>
        <p:spPr>
          <a:xfrm>
            <a:off x="5346441" y="0"/>
            <a:ext cx="6840498" cy="3709425"/>
          </a:xfrm>
          <a:prstGeom prst="rect">
            <a:avLst/>
          </a:prstGeom>
        </p:spPr>
      </p:pic>
      <p:pic>
        <p:nvPicPr>
          <p:cNvPr id="9" name="Picture 8">
            <a:extLst>
              <a:ext uri="{FF2B5EF4-FFF2-40B4-BE49-F238E27FC236}">
                <a16:creationId xmlns:a16="http://schemas.microsoft.com/office/drawing/2014/main" id="{A59DD8BE-BD67-BB2D-03A7-31BFA92C007A}"/>
              </a:ext>
            </a:extLst>
          </p:cNvPr>
          <p:cNvPicPr>
            <a:picLocks noChangeAspect="1"/>
          </p:cNvPicPr>
          <p:nvPr/>
        </p:nvPicPr>
        <p:blipFill>
          <a:blip r:embed="rId4"/>
          <a:stretch>
            <a:fillRect/>
          </a:stretch>
        </p:blipFill>
        <p:spPr>
          <a:xfrm>
            <a:off x="0" y="3429000"/>
            <a:ext cx="4746548" cy="340417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88129" y="90671"/>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EFFBD2D-E3B3-C758-7FC6-5C1D8A534B09}"/>
              </a:ext>
            </a:extLst>
          </p:cNvPr>
          <p:cNvPicPr>
            <a:picLocks noChangeAspect="1"/>
          </p:cNvPicPr>
          <p:nvPr/>
        </p:nvPicPr>
        <p:blipFill>
          <a:blip r:embed="rId3"/>
          <a:stretch>
            <a:fillRect/>
          </a:stretch>
        </p:blipFill>
        <p:spPr>
          <a:xfrm>
            <a:off x="8042988" y="0"/>
            <a:ext cx="4149012" cy="3251061"/>
          </a:xfrm>
          <a:prstGeom prst="rect">
            <a:avLst/>
          </a:prstGeom>
        </p:spPr>
      </p:pic>
      <p:pic>
        <p:nvPicPr>
          <p:cNvPr id="9" name="Picture 8">
            <a:extLst>
              <a:ext uri="{FF2B5EF4-FFF2-40B4-BE49-F238E27FC236}">
                <a16:creationId xmlns:a16="http://schemas.microsoft.com/office/drawing/2014/main" id="{24D88E7B-3FCF-5BD1-00AF-FB8AEC3A53B5}"/>
              </a:ext>
            </a:extLst>
          </p:cNvPr>
          <p:cNvPicPr>
            <a:picLocks noChangeAspect="1"/>
          </p:cNvPicPr>
          <p:nvPr/>
        </p:nvPicPr>
        <p:blipFill>
          <a:blip r:embed="rId4"/>
          <a:stretch>
            <a:fillRect/>
          </a:stretch>
        </p:blipFill>
        <p:spPr>
          <a:xfrm>
            <a:off x="0" y="2997176"/>
            <a:ext cx="8640147" cy="3860823"/>
          </a:xfrm>
          <a:prstGeom prst="rect">
            <a:avLst/>
          </a:prstGeom>
        </p:spPr>
      </p:pic>
      <p:pic>
        <p:nvPicPr>
          <p:cNvPr id="12" name="Picture 11">
            <a:extLst>
              <a:ext uri="{FF2B5EF4-FFF2-40B4-BE49-F238E27FC236}">
                <a16:creationId xmlns:a16="http://schemas.microsoft.com/office/drawing/2014/main" id="{8FD5ED71-F54D-BB93-12DC-DB75D8B8235E}"/>
              </a:ext>
            </a:extLst>
          </p:cNvPr>
          <p:cNvPicPr>
            <a:picLocks noChangeAspect="1"/>
          </p:cNvPicPr>
          <p:nvPr/>
        </p:nvPicPr>
        <p:blipFill>
          <a:blip r:embed="rId5"/>
          <a:stretch>
            <a:fillRect/>
          </a:stretch>
        </p:blipFill>
        <p:spPr>
          <a:xfrm>
            <a:off x="3069772" y="272647"/>
            <a:ext cx="3803936" cy="245188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116120" y="10933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5AD51D6-6121-B608-2991-E7E14721D67D}"/>
              </a:ext>
            </a:extLst>
          </p:cNvPr>
          <p:cNvPicPr>
            <a:picLocks noChangeAspect="1"/>
          </p:cNvPicPr>
          <p:nvPr/>
        </p:nvPicPr>
        <p:blipFill>
          <a:blip r:embed="rId3"/>
          <a:stretch>
            <a:fillRect/>
          </a:stretch>
        </p:blipFill>
        <p:spPr>
          <a:xfrm>
            <a:off x="2819082" y="157807"/>
            <a:ext cx="3809824" cy="2901205"/>
          </a:xfrm>
          <a:prstGeom prst="rect">
            <a:avLst/>
          </a:prstGeom>
        </p:spPr>
      </p:pic>
      <p:pic>
        <p:nvPicPr>
          <p:cNvPr id="12" name="Picture 11">
            <a:extLst>
              <a:ext uri="{FF2B5EF4-FFF2-40B4-BE49-F238E27FC236}">
                <a16:creationId xmlns:a16="http://schemas.microsoft.com/office/drawing/2014/main" id="{62915D48-6E8A-3A28-9EDF-2C5063DC4266}"/>
              </a:ext>
            </a:extLst>
          </p:cNvPr>
          <p:cNvPicPr>
            <a:picLocks noChangeAspect="1"/>
          </p:cNvPicPr>
          <p:nvPr/>
        </p:nvPicPr>
        <p:blipFill>
          <a:blip r:embed="rId4"/>
          <a:stretch>
            <a:fillRect/>
          </a:stretch>
        </p:blipFill>
        <p:spPr>
          <a:xfrm>
            <a:off x="7139609" y="0"/>
            <a:ext cx="4936271" cy="3540246"/>
          </a:xfrm>
          <a:prstGeom prst="rect">
            <a:avLst/>
          </a:prstGeom>
        </p:spPr>
      </p:pic>
      <p:pic>
        <p:nvPicPr>
          <p:cNvPr id="14" name="Picture 13">
            <a:extLst>
              <a:ext uri="{FF2B5EF4-FFF2-40B4-BE49-F238E27FC236}">
                <a16:creationId xmlns:a16="http://schemas.microsoft.com/office/drawing/2014/main" id="{C43903D4-BA3A-0B93-0BEC-BDD4082162A9}"/>
              </a:ext>
            </a:extLst>
          </p:cNvPr>
          <p:cNvPicPr>
            <a:picLocks noChangeAspect="1"/>
          </p:cNvPicPr>
          <p:nvPr/>
        </p:nvPicPr>
        <p:blipFill>
          <a:blip r:embed="rId5"/>
          <a:stretch>
            <a:fillRect/>
          </a:stretch>
        </p:blipFill>
        <p:spPr>
          <a:xfrm>
            <a:off x="0" y="3104992"/>
            <a:ext cx="5691986" cy="375300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125451" y="10703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BD189FB-576D-C64A-44FD-8359DF553CCB}"/>
              </a:ext>
            </a:extLst>
          </p:cNvPr>
          <p:cNvPicPr>
            <a:picLocks noChangeAspect="1"/>
          </p:cNvPicPr>
          <p:nvPr/>
        </p:nvPicPr>
        <p:blipFill>
          <a:blip r:embed="rId3"/>
          <a:stretch>
            <a:fillRect/>
          </a:stretch>
        </p:blipFill>
        <p:spPr>
          <a:xfrm>
            <a:off x="5210958" y="0"/>
            <a:ext cx="6981042" cy="6858000"/>
          </a:xfrm>
          <a:prstGeom prst="rect">
            <a:avLst/>
          </a:prstGeom>
        </p:spPr>
      </p:pic>
      <p:pic>
        <p:nvPicPr>
          <p:cNvPr id="12" name="Picture 11">
            <a:extLst>
              <a:ext uri="{FF2B5EF4-FFF2-40B4-BE49-F238E27FC236}">
                <a16:creationId xmlns:a16="http://schemas.microsoft.com/office/drawing/2014/main" id="{3497D187-D384-8963-7B82-B4686CAE9746}"/>
              </a:ext>
            </a:extLst>
          </p:cNvPr>
          <p:cNvPicPr>
            <a:picLocks noChangeAspect="1"/>
          </p:cNvPicPr>
          <p:nvPr/>
        </p:nvPicPr>
        <p:blipFill>
          <a:blip r:embed="rId4"/>
          <a:stretch>
            <a:fillRect/>
          </a:stretch>
        </p:blipFill>
        <p:spPr>
          <a:xfrm>
            <a:off x="125451" y="1639875"/>
            <a:ext cx="4274629" cy="327667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29229" y="10703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990D845-63EA-68F7-9ABE-162D12A8558B}"/>
              </a:ext>
            </a:extLst>
          </p:cNvPr>
          <p:cNvPicPr>
            <a:picLocks noChangeAspect="1"/>
          </p:cNvPicPr>
          <p:nvPr/>
        </p:nvPicPr>
        <p:blipFill>
          <a:blip r:embed="rId3"/>
          <a:stretch>
            <a:fillRect/>
          </a:stretch>
        </p:blipFill>
        <p:spPr>
          <a:xfrm>
            <a:off x="5681742" y="0"/>
            <a:ext cx="6481029" cy="4777901"/>
          </a:xfrm>
          <a:prstGeom prst="rect">
            <a:avLst/>
          </a:prstGeom>
        </p:spPr>
      </p:pic>
      <p:pic>
        <p:nvPicPr>
          <p:cNvPr id="12" name="Picture 11">
            <a:extLst>
              <a:ext uri="{FF2B5EF4-FFF2-40B4-BE49-F238E27FC236}">
                <a16:creationId xmlns:a16="http://schemas.microsoft.com/office/drawing/2014/main" id="{E700179C-5E12-6AF1-6294-85A38056B4C6}"/>
              </a:ext>
            </a:extLst>
          </p:cNvPr>
          <p:cNvPicPr>
            <a:picLocks noChangeAspect="1"/>
          </p:cNvPicPr>
          <p:nvPr/>
        </p:nvPicPr>
        <p:blipFill>
          <a:blip r:embed="rId4"/>
          <a:stretch>
            <a:fillRect/>
          </a:stretch>
        </p:blipFill>
        <p:spPr>
          <a:xfrm>
            <a:off x="29229" y="3172535"/>
            <a:ext cx="5652513" cy="360392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88E7FD8-5843-D842-7F63-6901D65FDF68}"/>
              </a:ext>
            </a:extLst>
          </p:cNvPr>
          <p:cNvSpPr txBox="1"/>
          <p:nvPr/>
        </p:nvSpPr>
        <p:spPr>
          <a:xfrm>
            <a:off x="550506" y="1201586"/>
            <a:ext cx="10506270" cy="3970318"/>
          </a:xfrm>
          <a:prstGeom prst="rect">
            <a:avLst/>
          </a:prstGeom>
          <a:noFill/>
        </p:spPr>
        <p:txBody>
          <a:bodyPr wrap="square" rtlCol="0">
            <a:spAutoFit/>
          </a:bodyPr>
          <a:lstStyle/>
          <a:p>
            <a:pPr lvl="0"/>
            <a:r>
              <a:rPr lang="en-US" b="1" dirty="0"/>
              <a:t>1. Predictive Analytics:</a:t>
            </a:r>
            <a:r>
              <a:rPr lang="en-US" dirty="0"/>
              <a:t> Develop ML models to predict crop yield and profitability for different seasons.</a:t>
            </a:r>
          </a:p>
          <a:p>
            <a:pPr lvl="0"/>
            <a:r>
              <a:rPr lang="en-US" b="1" dirty="0"/>
              <a:t>2. Weather Integration:</a:t>
            </a:r>
            <a:r>
              <a:rPr lang="en-US" dirty="0"/>
              <a:t> Incorporate real-time rainfall, temperature, humidity, and weather forecasts.</a:t>
            </a:r>
          </a:p>
          <a:p>
            <a:pPr lvl="0"/>
            <a:r>
              <a:rPr lang="en-US" b="1" dirty="0"/>
              <a:t>3. Crop Recommendation:</a:t>
            </a:r>
            <a:r>
              <a:rPr lang="en-US" dirty="0"/>
              <a:t> Build a recommendation system suggesting suitable crops based on season, soil, and environmental conditions.</a:t>
            </a:r>
          </a:p>
          <a:p>
            <a:pPr lvl="0"/>
            <a:r>
              <a:rPr lang="en-US" b="1" dirty="0"/>
              <a:t>4. Smart Irrigation:</a:t>
            </a:r>
            <a:r>
              <a:rPr lang="en-US" dirty="0"/>
              <a:t> Integrate IoT sensors to monitor soil moisture and optimize irrigation.</a:t>
            </a:r>
          </a:p>
          <a:p>
            <a:pPr lvl="0"/>
            <a:r>
              <a:rPr lang="en-US" b="1" dirty="0"/>
              <a:t>5. Real-Time Dashboard:</a:t>
            </a:r>
            <a:r>
              <a:rPr lang="en-US" dirty="0"/>
              <a:t> Develop a Power BI/Tableau or web dashboard for farmers and agricultural decision-makers.</a:t>
            </a:r>
          </a:p>
          <a:p>
            <a:pPr lvl="0"/>
            <a:r>
              <a:rPr lang="en-US" b="1" dirty="0"/>
              <a:t>6. Larger Datasets:</a:t>
            </a:r>
            <a:r>
              <a:rPr lang="en-US" dirty="0"/>
              <a:t> Include multi-year and regional data to improve the reliability of insights.</a:t>
            </a:r>
          </a:p>
          <a:p>
            <a:pPr lvl="0"/>
            <a:r>
              <a:rPr lang="en-US" b="1" dirty="0"/>
              <a:t>7. Risk Prediction:</a:t>
            </a:r>
            <a:r>
              <a:rPr lang="en-US" dirty="0"/>
              <a:t> Predict risks such as low yield, water shortage, and unfavorable seasonal conditions.</a:t>
            </a:r>
          </a:p>
          <a:p>
            <a:pPr lvl="0"/>
            <a:r>
              <a:rPr lang="en-US" b="1" dirty="0"/>
              <a:t>8. Cost Optimization:</a:t>
            </a:r>
            <a:r>
              <a:rPr lang="en-US" dirty="0"/>
              <a:t> Analyze fertilizer, pesticide, water, and labor costs to identify ways to improve farm profitability.</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897207" y="1645902"/>
            <a:ext cx="7232875" cy="369332"/>
          </a:xfrm>
          <a:prstGeom prst="rect">
            <a:avLst/>
          </a:prstGeom>
          <a:noFill/>
        </p:spPr>
        <p:txBody>
          <a:bodyPr wrap="square">
            <a:spAutoFit/>
          </a:bodyPr>
          <a:lstStyle/>
          <a:p>
            <a:r>
              <a:rPr lang="en-US" dirty="0">
                <a:hlinkClick r:id="rId3" tooltip="https://github.com/srinjoylaha01/VOIS_PROJECT.git"/>
              </a:rPr>
              <a:t>https://github.com/srinjoylaha01/VOIS_PROJECT.git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2DFA9A4-652C-77D3-1D66-150A37817757}"/>
              </a:ext>
            </a:extLst>
          </p:cNvPr>
          <p:cNvPicPr>
            <a:picLocks noChangeAspect="1"/>
          </p:cNvPicPr>
          <p:nvPr/>
        </p:nvPicPr>
        <p:blipFill>
          <a:blip r:embed="rId3"/>
          <a:stretch>
            <a:fillRect/>
          </a:stretch>
        </p:blipFill>
        <p:spPr>
          <a:xfrm>
            <a:off x="408968" y="1573199"/>
            <a:ext cx="6924894" cy="4898721"/>
          </a:xfrm>
          <a:prstGeom prst="rect">
            <a:avLst/>
          </a:prstGeom>
        </p:spPr>
      </p:pic>
      <p:sp>
        <p:nvSpPr>
          <p:cNvPr id="10" name="TextBox 9">
            <a:extLst>
              <a:ext uri="{FF2B5EF4-FFF2-40B4-BE49-F238E27FC236}">
                <a16:creationId xmlns:a16="http://schemas.microsoft.com/office/drawing/2014/main" id="{6688B149-7196-B714-8B27-4074C6647578}"/>
              </a:ext>
            </a:extLst>
          </p:cNvPr>
          <p:cNvSpPr txBox="1"/>
          <p:nvPr/>
        </p:nvSpPr>
        <p:spPr>
          <a:xfrm>
            <a:off x="7689255" y="4164859"/>
            <a:ext cx="4337904" cy="646331"/>
          </a:xfrm>
          <a:prstGeom prst="rect">
            <a:avLst/>
          </a:prstGeom>
          <a:noFill/>
        </p:spPr>
        <p:txBody>
          <a:bodyPr wrap="square">
            <a:spAutoFit/>
          </a:bodyPr>
          <a:lstStyle/>
          <a:p>
            <a:r>
              <a:rPr lang="en-US" dirty="0">
                <a:hlinkClick r:id="rId4"/>
              </a:rPr>
              <a:t>https://voisfortech.com/certificate-verification/VFLMS26_160943/301</a:t>
            </a:r>
            <a:endParaRPr lang="en-US"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1424</TotalTime>
  <Words>558</Words>
  <Application>Microsoft Office PowerPoint</Application>
  <PresentationFormat>Widescreen</PresentationFormat>
  <Paragraphs>39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Analyzed 4,000 agricultural records to uncover seasonal patterns in crop yield, farm profitability, irrigation efficiency, rainfall, and resource usage. Using Python, Pandas, NumPy, Matplotlib, and Seaborn, the project performed data cleaning, statistical analysis, correlation analysis, and multi-level visualization to compare crops and seasons. The analysis found Kharif to be the strongest-performing season, identified Zaid as comparatively high-risk, and highlighted drip irrigation as a strong strategy for water-stressed conditions.</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SRINJOY LAHA</dc:creator>
  <cp:lastModifiedBy>SRINJOY LAHA</cp:lastModifiedBy>
  <cp:revision>99</cp:revision>
  <dcterms:created xsi:type="dcterms:W3CDTF">2021-07-11T13:13:15Z</dcterms:created>
  <dcterms:modified xsi:type="dcterms:W3CDTF">2026-09-13T19:17:30Z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